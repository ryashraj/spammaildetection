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35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DBE9FF"/>
                </a:solidFill>
              </a:rPr>
              <a:t>Ahmedabad Institute of 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Department of Computer Engineering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005840"/>
            <a:ext cx="9418320" cy="27432"/>
          </a:xfrm>
          <a:prstGeom prst="rect">
            <a:avLst/>
          </a:prstGeom>
          <a:solidFill>
            <a:srgbClr val="235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0" i="0">
                <a:solidFill>
                  <a:srgbClr val="FFFFFF"/>
                </a:solidFill>
              </a:rPr>
              <a:t>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123444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Spam Email Detection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21488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BE9FF"/>
                </a:solidFill>
              </a:rPr>
              <a:t>AI-Powered Mail Classifier using NLP &amp; Naive Bayes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743200"/>
            <a:ext cx="11247120" cy="36576"/>
          </a:xfrm>
          <a:prstGeom prst="rect">
            <a:avLst/>
          </a:prstGeom>
          <a:solidFill>
            <a:srgbClr val="235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880360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BE9FF"/>
                </a:solidFill>
              </a:rPr>
              <a:t>Subject: Python for Data Science  |  Code: BE05000231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461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</a:rPr>
              <a:t>Sem 5  |  BE  |  B Division  |  B2 Batch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703320"/>
            <a:ext cx="11247120" cy="36576"/>
          </a:xfrm>
          <a:prstGeom prst="rect">
            <a:avLst/>
          </a:prstGeom>
          <a:solidFill>
            <a:srgbClr val="2D35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84048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Submitted To: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169663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Prof. Khusharth Oza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84048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HOD — Computer Engineering: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169663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Dr. Harsha Padheriya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736592"/>
            <a:ext cx="11247120" cy="36576"/>
          </a:xfrm>
          <a:prstGeom prst="rect">
            <a:avLst/>
          </a:prstGeom>
          <a:solidFill>
            <a:srgbClr val="2D35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86460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Project By: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18464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Yashrajsinh Rajput  ·  Vishwajeet  ·  Shreyas Tavre  ·  Meet Shah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658368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AIT  |  Python for Data Science (BE05000231)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0" y="658368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1 / 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Team Details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BE9FF"/>
                </a:solidFill>
              </a:rPr>
              <a:t>Ahmedabad Institute of Technology  |  Sem 5, BE, B Div, B2 Batch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11457432" cy="822960"/>
          </a:xfrm>
          <a:prstGeom prst="rect">
            <a:avLst/>
          </a:prstGeom>
          <a:solidFill>
            <a:srgbClr val="1A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Subject: Python for Data Science  |  Code: BE05000231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BE9FF"/>
                </a:solidFill>
              </a:rPr>
              <a:t>Submitted To: Prof. Khusharth Oza       |       HOD CE: Dr. Harsha Padheriya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423160"/>
            <a:ext cx="2651760" cy="914400"/>
          </a:xfrm>
          <a:prstGeom prst="rect">
            <a:avLst/>
          </a:prstGeom>
          <a:solidFill>
            <a:srgbClr val="235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79" y="2496312"/>
            <a:ext cx="24688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Yashrajsinh Rajput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2953512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Data Engineer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337560"/>
            <a:ext cx="2651760" cy="28346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4290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Enrollment No.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721608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F3C"/>
                </a:solidFill>
              </a:rPr>
              <a:t>250023107087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297679"/>
            <a:ext cx="2377440" cy="36576"/>
          </a:xfrm>
          <a:prstGeom prst="rect">
            <a:avLst/>
          </a:prstGeom>
          <a:solidFill>
            <a:srgbClr val="DBE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4348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Contributed To: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754879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35DC8"/>
                </a:solidFill>
              </a:rPr>
              <a:t>Phase 1 — Data Preparation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00984" y="2423160"/>
            <a:ext cx="2651760" cy="914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92424" y="2496312"/>
            <a:ext cx="24688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Vishwajeet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92424" y="2953512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UI Developer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00984" y="3337560"/>
            <a:ext cx="2651760" cy="28346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38144" y="34290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Enrollment No.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38144" y="3721608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F3C"/>
                </a:solidFill>
              </a:rPr>
              <a:t>250023107086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38144" y="4297679"/>
            <a:ext cx="2377440" cy="36576"/>
          </a:xfrm>
          <a:prstGeom prst="rect">
            <a:avLst/>
          </a:prstGeom>
          <a:solidFill>
            <a:srgbClr val="DBE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38144" y="44348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Contributed To: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38144" y="4754879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Phase 4 &amp; 5 — Web Application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81927" y="2423160"/>
            <a:ext cx="2651760" cy="914400"/>
          </a:xfrm>
          <a:prstGeom prst="rect">
            <a:avLst/>
          </a:prstGeom>
          <a:solidFill>
            <a:srgbClr val="705C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73367" y="2496312"/>
            <a:ext cx="24688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Shreyas Tavre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73367" y="2953512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Data Analyst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81927" y="3337560"/>
            <a:ext cx="2651760" cy="28346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19088" y="34290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Enrollment No.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19088" y="3721608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F3C"/>
                </a:solidFill>
              </a:rPr>
              <a:t>250023107076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19088" y="4297679"/>
            <a:ext cx="2377440" cy="36576"/>
          </a:xfrm>
          <a:prstGeom prst="rect">
            <a:avLst/>
          </a:prstGeom>
          <a:solidFill>
            <a:srgbClr val="DBE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19088" y="44348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Contributed To: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19088" y="4754879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05CDB"/>
                </a:solidFill>
              </a:rPr>
              <a:t>Phase 2 — EDA &amp; Vectorization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262872" y="2423160"/>
            <a:ext cx="2651760" cy="9144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54311" y="2496312"/>
            <a:ext cx="24688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Meet Shah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54311" y="2953512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ML Engineer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262872" y="3337560"/>
            <a:ext cx="2651760" cy="28346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400032" y="34290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Enrollment No.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00032" y="3721608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F3C"/>
                </a:solidFill>
              </a:rPr>
              <a:t>250023107067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400032" y="4297679"/>
            <a:ext cx="2377440" cy="36576"/>
          </a:xfrm>
          <a:prstGeom prst="rect">
            <a:avLst/>
          </a:prstGeom>
          <a:solidFill>
            <a:srgbClr val="DBE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400032" y="44348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Contributed To: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00032" y="4754879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9669"/>
                </a:solidFill>
              </a:rPr>
              <a:t>Phase 3 — Model Training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74320" y="658368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AIT  |  Python for Data Science (BE05000231)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430000" y="658368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BE9FF"/>
                </a:solidFill>
              </a:rPr>
              <a:t>Why does spam detection matter?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3474720" cy="10058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46304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45%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0116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of all emails worldwide are spam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651760"/>
            <a:ext cx="3474720" cy="1005840"/>
          </a:xfrm>
          <a:prstGeom prst="rect">
            <a:avLst/>
          </a:prstGeom>
          <a:solidFill>
            <a:srgbClr val="235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65176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₹ Crores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2004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lost to phishing scams every year in India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840480"/>
            <a:ext cx="3474720" cy="10058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384048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Millions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3891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of users deceived by fake 'selected' or 'winner' mails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141732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1F3C"/>
                </a:solidFill>
              </a:rPr>
              <a:t>What is Spam?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1920240"/>
            <a:ext cx="7589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500">
                <a:solidFill>
                  <a:srgbClr val="1E293B"/>
                </a:solidFill>
              </a:rPr>
              <a:t>•  Unsolicited, unwanted emails sent in bulk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1E293B"/>
                </a:solidFill>
              </a:rPr>
              <a:t>•  Contains fake prizes, urgent threats, phishing links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1E293B"/>
                </a:solidFill>
              </a:rPr>
              <a:t>•  Wastes time and poses serious security risks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1E293B"/>
                </a:solidFill>
              </a:rPr>
              <a:t>•  Manually filtering them is inefficient and unreliable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402336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1F3C"/>
                </a:solidFill>
              </a:rPr>
              <a:t>Our Goal: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4480560"/>
            <a:ext cx="7589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293B"/>
                </a:solidFill>
              </a:rPr>
              <a:t>Build an intelligent system that automatically detects whether an email is Spam or Ham (safe) — using Machine Learning.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658368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AIT  |  Python for Data Science (BE05000231)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0" y="658368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Our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BE9FF"/>
                </a:solidFill>
              </a:rPr>
              <a:t>What we built and why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539496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35DC8"/>
                </a:solidFill>
              </a:rPr>
              <a:t>What We Built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4884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A 5-phase ML pipeline from raw data to live app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NLP-based text cleaning &amp; lemmatization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TF-IDF vectorization to convert text to numbers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Multinomial Naive Bayes classifier (98% accuracy)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Streamlit web app with 2 input modes: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   – Paste text (Subject + Sender + Body)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   – Upload a real .eml email file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Clear button, result confidence bar, analysis view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463040"/>
            <a:ext cx="5669280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002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35DC8"/>
                </a:solidFill>
              </a:rPr>
              <a:t>Why This Approach?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4884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Naive Bayes is the industry standard for text spam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TF-IDF captures word importance, not just frequency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Lightweight — runs fully on your local machine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No data is ever sent to any server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3886200"/>
            <a:ext cx="5669280" cy="2423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40233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35DC8"/>
                </a:solidFill>
              </a:rPr>
              <a:t>Dataset Used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2628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SMS Spam Collection (UCI ML Repository / Kaggle)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5,572 messages — 4,825 Ham + 747 Spam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Same NLP pipeline applies to emails — technique is identical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658368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AIT  |  Python for Data Science (BE05000231)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58368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BE9FF"/>
                </a:solidFill>
              </a:rPr>
              <a:t>Tools and libraries used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265176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E293B"/>
                </a:solidFill>
              </a:rPr>
              <a:t>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2468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F3C"/>
                </a:solidFill>
              </a:rPr>
              <a:t>Python 3.12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23160"/>
            <a:ext cx="24688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Core programming language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1417320"/>
            <a:ext cx="265176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15087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E293B"/>
                </a:solidFill>
              </a:rPr>
              <a:t>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011680"/>
            <a:ext cx="2468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F3C"/>
                </a:solidFill>
              </a:rPr>
              <a:t>NLTK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423160"/>
            <a:ext cx="24688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Stopword removal, lemmatization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417320"/>
            <a:ext cx="265176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5087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E293B"/>
                </a:solidFill>
              </a:rPr>
              <a:t>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011680"/>
            <a:ext cx="2468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F3C"/>
                </a:solidFill>
              </a:rPr>
              <a:t>Scikit-learn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23160"/>
            <a:ext cx="24688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TF-IDF vectorizer + Naive Bayes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81160" y="1417320"/>
            <a:ext cx="265176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72600" y="15087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E293B"/>
                </a:solidFill>
              </a:rPr>
              <a:t>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2011680"/>
            <a:ext cx="2468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F3C"/>
                </a:solidFill>
              </a:rPr>
              <a:t>Pandas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600" y="2423160"/>
            <a:ext cx="24688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Data loading and manipulation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749040"/>
            <a:ext cx="265176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84048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E293B"/>
                </a:solidFill>
              </a:rPr>
              <a:t>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343400"/>
            <a:ext cx="2468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F3C"/>
                </a:solidFill>
              </a:rPr>
              <a:t>Matplotlib /
Seaborn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754880"/>
            <a:ext cx="24688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EDA visualizations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37560" y="3749040"/>
            <a:ext cx="265176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29000" y="384048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E293B"/>
                </a:solidFill>
              </a:rPr>
              <a:t>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4343400"/>
            <a:ext cx="2468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F3C"/>
                </a:solidFill>
              </a:rPr>
              <a:t>Streamlit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4754880"/>
            <a:ext cx="24688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Interactive web application UI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3749040"/>
            <a:ext cx="265176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384048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E293B"/>
                </a:solidFill>
              </a:rPr>
              <a:t>💾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4343400"/>
            <a:ext cx="2468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F3C"/>
                </a:solidFill>
              </a:rPr>
              <a:t>Pickle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754880"/>
            <a:ext cx="24688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Save &amp; load trained model files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281160" y="3749040"/>
            <a:ext cx="265176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72600" y="384048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E293B"/>
                </a:solidFill>
              </a:rPr>
              <a:t>📧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72600" y="4343400"/>
            <a:ext cx="2468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F3C"/>
                </a:solidFill>
              </a:rPr>
              <a:t>email (stdlib)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72600" y="4754880"/>
            <a:ext cx="24688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Parse .eml files safely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4320" y="658368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AIT  |  Python for Data Science (BE05000231)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30000" y="658368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Project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BE9FF"/>
                </a:solidFill>
              </a:rPr>
              <a:t>5 phases from raw data to live web app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828800"/>
            <a:ext cx="1828800" cy="2377440"/>
          </a:xfrm>
          <a:prstGeom prst="rect">
            <a:avLst/>
          </a:prstGeom>
          <a:solidFill>
            <a:srgbClr val="235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Phase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8600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Data
Preparation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54680"/>
            <a:ext cx="1645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Clean text, encode labels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79" y="26974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1F3C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14600" y="1828800"/>
            <a:ext cx="1828800" cy="2377440"/>
          </a:xfrm>
          <a:prstGeom prst="rect">
            <a:avLst/>
          </a:prstGeom>
          <a:solidFill>
            <a:srgbClr val="705C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06040" y="19202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Phase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228600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EDA &amp;
Vectorize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3154680"/>
            <a:ext cx="1645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Explore data, TF-IDF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6974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1F3C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63440" y="1828800"/>
            <a:ext cx="1828800" cy="23774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0" y="19202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Phase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228600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Model
Training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3154680"/>
            <a:ext cx="1645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Train Naive Bayes (98%)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26974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1F3C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12280" y="1828800"/>
            <a:ext cx="1828800" cy="2377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03720" y="19202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Phase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228600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Web App
UI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3154680"/>
            <a:ext cx="1645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Streamlit interface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26974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1F3C"/>
                </a:solidFill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61120" y="1828800"/>
            <a:ext cx="1828800" cy="2377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0" y="19202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Phase 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228600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Smart
Input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3154680"/>
            <a:ext cx="1645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.eml parser, Clear button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44348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E293B"/>
                </a:solidFill>
              </a:rPr>
              <a:t>Each phase produces an output that feeds directly into the next phase — a complete, end-to-end Machine Learning pipeline.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658368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AIT  |  Python for Data Science (BE05000231)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0" y="658368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Phase 1 — Data Preparation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BE9FF"/>
                </a:solidFill>
              </a:rPr>
              <a:t>File: phase1_data_preparation.py  |  Lead: Yashrajsinh Rajput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539496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35DC8"/>
                </a:solidFill>
              </a:rPr>
              <a:t>What was done?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48840"/>
            <a:ext cx="5029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Loaded SMS Spam Collection dataset (spam.csv)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Removed duplicate and null entries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Converted text to lowercase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Removed punctuation, numbers &amp; URLs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Removed stop words (e.g. 'the', 'is', 'a')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Applied Lemmatization (e.g. 'running' → 'run')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Encoded labels: ham = 0, spam = 1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Saved cleaned data to: data/cleaned_spam.csv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Checked and reported class imbalance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463040"/>
            <a:ext cx="566928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002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35DC8"/>
                </a:solidFill>
              </a:rPr>
              <a:t>Output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4884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500">
                <a:solidFill>
                  <a:srgbClr val="1E293B"/>
                </a:solidFill>
              </a:rPr>
              <a:t>•  cleaned_spam.csv  →  5,572 rows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1E293B"/>
                </a:solidFill>
              </a:rPr>
              <a:t>•  4,825 Ham messages (86.6%)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1E293B"/>
                </a:solidFill>
              </a:rPr>
              <a:t>•     747 Spam messages (13.4%)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3931920"/>
            <a:ext cx="566928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40690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35DC8"/>
                </a:solidFill>
              </a:rPr>
              <a:t>Why these steps?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72000"/>
            <a:ext cx="5303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ML models cannot understand raw noisy text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Stop words add no spam-detection value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Lemmatization reduces word variety so the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  model learns patterns, not exact spellings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658368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AIT  |  Python for Data Science (BE05000231)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58368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Phase 2 — EDA &amp; Vectorization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BE9FF"/>
                </a:solidFill>
              </a:rPr>
              <a:t>File: phase2_eda_vectorization.py  |  Lead: Shreyas Tavre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539496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35DC8"/>
                </a:solidFill>
              </a:rPr>
              <a:t>Exploratory Data Analysis (EDA)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48840"/>
            <a:ext cx="5029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Plotted class distribution (Ham vs Spam bar chart)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Word count distribution — spam msgs are longer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Generated Word Clouds for spam and ham words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Top 15 most frequent words in spam messages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Correlation between message length &amp; spam label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All plots saved to: plots/ folder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7548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35DC8"/>
                </a:solidFill>
              </a:rPr>
              <a:t>TF-IDF Vectorization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25780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Converted cleaned text into numerical feature matrix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max_features = 5,000 most important words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Split data: 80% train / 20% test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Saved: vectorizer.pkl, train_test_splits.pkl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463040"/>
            <a:ext cx="566928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6002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35DC8"/>
                </a:solidFill>
              </a:rPr>
              <a:t>What is TF-IDF?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1488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</a:rPr>
              <a:t>TF-IDF stands for Term Frequency - Inverse Document Frequency.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69748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TF: How often does a word appear in this message?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IDF: How rare is this word across all messages?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Words like 'FREE', 'WIN', 'CLAIM' appear very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often in spam but rarely in normal messages →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they get a HIGH TF-IDF score → model learns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that these words = high spam probability.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Common words like 'the', 'you', 'is' appear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everywhere → low IDF → low score → ignored.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658368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AIT  |  Python for Data Science (BE05000231)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58368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Phase 3 — ML Model 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BE9FF"/>
                </a:solidFill>
              </a:rPr>
              <a:t>File: phase3_modeling.py  |  Lead: Meet Shah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539496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35DC8"/>
                </a:solidFill>
              </a:rPr>
              <a:t>Model: Multinomial Naive Bayes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48840"/>
            <a:ext cx="5029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Loaded train/test data from vectorizer output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Trained MultinomialNB with alpha=0.1 (tuned)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Evaluated on 1,115 unseen test messages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Performed hyperparameter search for best alpha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Saved final model to: models/spam_model.pkl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3434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35DC8"/>
                </a:solidFill>
              </a:rPr>
              <a:t>Results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846320"/>
            <a:ext cx="2194560" cy="11887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89204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98%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5778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Accuracy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17520" y="4846320"/>
            <a:ext cx="2560320" cy="1188720"/>
          </a:xfrm>
          <a:prstGeom prst="rect">
            <a:avLst/>
          </a:prstGeom>
          <a:solidFill>
            <a:srgbClr val="235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17520" y="48920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~1 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55778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Prediction time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1463040"/>
            <a:ext cx="566928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6002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35DC8"/>
                </a:solidFill>
              </a:rPr>
              <a:t>Why Naive Bayes?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14884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Specifically designed for text classification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Calculates probability of spam vs ham based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  on the frequency of each TF-IDF word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Extremely fast — trains in seconds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Proven industry standard: used in Gmail,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  Yahoo Mail spam filters since early 2000s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Confusion Matrix (on test set of 1,115):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  True Ham:   966  |  False Spam:  9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  True Spam:  124  |  False Ham:  16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658368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AIT  |  Python for Data Science (BE05000231)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0" y="658368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Phase 4 &amp; 5 — Web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BE9FF"/>
                </a:solidFill>
              </a:rPr>
              <a:t>File: app.py  |  Lead: Vishwajeet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539496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35DC8"/>
                </a:solidFill>
              </a:rPr>
              <a:t>What was built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48840"/>
            <a:ext cx="50292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Interactive Streamlit web application (app.py)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Loads trained model &amp; vectorizer on startup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Two input modes (tabs):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   ✏️  Tab 1: Paste Sender + Subject + Body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   📁  Tab 2: Upload a .eml email file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Auto-parses .eml → fills all fields automatically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Safe: attachments are NEVER opened or executed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Clear button resets all inputs and results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Confidence progress bar for visual clarity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Analysis details expander (shows cleaned text)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Premium dark UI with Inter font &amp; custom CSS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463040"/>
            <a:ext cx="566928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002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35DC8"/>
                </a:solidFill>
              </a:rPr>
              <a:t>How to use 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4884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Run:  python -m streamlit run app.py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Opens at: http://localhost:8501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Option A — Type/Paste: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  Enter Sender, Subject, and Body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  → Click 🔍 Analyse Email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Option B — .eml File: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  In Gmail: ⋮ More → Download message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  Upload the .eml file to the app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  → Fields are filled automatically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  → Click 🔍 Analyse Email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Result shows: SPAM 🚨 or HAM ✅ + confidence 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58368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AIT  |  Python for Data Science (BE05000231)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58368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Team Contributions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BE9FF"/>
                </a:solidFill>
              </a:rPr>
              <a:t>AIT  |  Sem 5, BE, B Div, B2 Batch  |  Each member owned a complete phase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17320"/>
            <a:ext cx="2651760" cy="822960"/>
          </a:xfrm>
          <a:prstGeom prst="rect">
            <a:avLst/>
          </a:prstGeom>
          <a:solidFill>
            <a:srgbClr val="235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463040"/>
            <a:ext cx="2468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</a:rPr>
              <a:t>Yashraj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1874519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Data Engineer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240280"/>
            <a:ext cx="2651760" cy="38404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3774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35DC8"/>
                </a:solidFill>
              </a:rPr>
              <a:t>Phase 1 — Data Preparation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80360"/>
            <a:ext cx="2377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50">
                <a:solidFill>
                  <a:srgbClr val="1E293B"/>
                </a:solidFill>
              </a:rPr>
              <a:t>• Sourced &amp; loaded the SMS Spam dataset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1E293B"/>
                </a:solidFill>
              </a:rPr>
              <a:t>• Built the full NLP cleaning pipeline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1E293B"/>
                </a:solidFill>
              </a:rPr>
              <a:t>• Stopword removal, lemmatization, label encoding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1E293B"/>
                </a:solidFill>
              </a:rPr>
              <a:t>• Generated cleaned_spam.csv (5,572 rows)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00984" y="1417320"/>
            <a:ext cx="2651760" cy="822960"/>
          </a:xfrm>
          <a:prstGeom prst="rect">
            <a:avLst/>
          </a:prstGeom>
          <a:solidFill>
            <a:srgbClr val="705C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92424" y="1463040"/>
            <a:ext cx="2468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</a:rPr>
              <a:t>Shreyas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92424" y="1874519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Data Analyst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00984" y="2240280"/>
            <a:ext cx="2651760" cy="38404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38144" y="23774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05CDB"/>
                </a:solidFill>
              </a:rPr>
              <a:t>Phase 2 — EDA &amp; Vectorization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38144" y="2880360"/>
            <a:ext cx="2377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50">
                <a:solidFill>
                  <a:srgbClr val="1E293B"/>
                </a:solidFill>
              </a:rPr>
              <a:t>• Generated EDA visualizations &amp; word clouds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1E293B"/>
                </a:solidFill>
              </a:rPr>
              <a:t>• Analysed spam vs ham word patterns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1E293B"/>
                </a:solidFill>
              </a:rPr>
              <a:t>• Built TF-IDF vectorizer (5,000 features)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1E293B"/>
                </a:solidFill>
              </a:rPr>
              <a:t>• Created 80/20 train-test split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81927" y="1417320"/>
            <a:ext cx="2651760" cy="8229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3367" y="1463040"/>
            <a:ext cx="2468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</a:rPr>
              <a:t>Meet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7" y="1874519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ML Engineer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81927" y="2240280"/>
            <a:ext cx="2651760" cy="38404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19088" y="23774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9669"/>
                </a:solidFill>
              </a:rPr>
              <a:t>Phase 3 — Model Training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2880360"/>
            <a:ext cx="2377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50">
                <a:solidFill>
                  <a:srgbClr val="1E293B"/>
                </a:solidFill>
              </a:rPr>
              <a:t>• Trained Multinomial Naive Bayes classifier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1E293B"/>
                </a:solidFill>
              </a:rPr>
              <a:t>• Tuned hyperparameter alpha for best performance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1E293B"/>
                </a:solidFill>
              </a:rPr>
              <a:t>• Achieved 98% accuracy on 1,115 test messages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1E293B"/>
                </a:solidFill>
              </a:rPr>
              <a:t>• Saved final model as spam_model.pkl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62872" y="1417320"/>
            <a:ext cx="2651760" cy="8229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54311" y="1463040"/>
            <a:ext cx="2468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</a:rPr>
              <a:t>Vishwajeet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54311" y="1874519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UI Developer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262872" y="2240280"/>
            <a:ext cx="2651760" cy="38404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23774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Phase 4 &amp; 5 — Web Application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2880360"/>
            <a:ext cx="2377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50">
                <a:solidFill>
                  <a:srgbClr val="1E293B"/>
                </a:solidFill>
              </a:rPr>
              <a:t>• Built Streamlit web app (app.py)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1E293B"/>
                </a:solidFill>
              </a:rPr>
              <a:t>• Added .eml file upload &amp; auto-parsing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1E293B"/>
                </a:solidFill>
              </a:rPr>
              <a:t>• Implemented Clear button with session state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1E293B"/>
                </a:solidFill>
              </a:rPr>
              <a:t>• Designed premium dark UI with custom CSS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658368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AIT  |  Python for Data Science (BE05000231)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0" y="658368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Results &amp; Key Learnings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BE9FF"/>
                </a:solidFill>
              </a:rPr>
              <a:t>What we achieved and what we discovered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2560320" cy="1371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98%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945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Model Accuracy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1417320"/>
            <a:ext cx="2560320" cy="1371600"/>
          </a:xfrm>
          <a:prstGeom prst="rect">
            <a:avLst/>
          </a:prstGeom>
          <a:solidFill>
            <a:srgbClr val="235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463040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5,572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21945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Messages Trained 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417320"/>
            <a:ext cx="2560320" cy="1371600"/>
          </a:xfrm>
          <a:prstGeom prst="rect">
            <a:avLst/>
          </a:prstGeom>
          <a:solidFill>
            <a:srgbClr val="705C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463040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~1 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1945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Prediction Speed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6840" y="1417320"/>
            <a:ext cx="2560320" cy="1371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98280" y="1463040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2 Modes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8280" y="21945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Input Methods in App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971800"/>
            <a:ext cx="539496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1089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35DC8"/>
                </a:solidFill>
              </a:rPr>
              <a:t>Key Technical Learnings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611880"/>
            <a:ext cx="5029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NLP preprocessing is crucial — raw text alone won't work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TF-IDF is highly effective for short text classification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Naive Bayes works because spam language is predictable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Class imbalance (87% ham) is real — model must handle it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False positives exist — e.g. 'You are selected for SIH'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  is flagged spam because 'selected' = spam word in training data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2971800"/>
            <a:ext cx="566928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31089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35DC8"/>
                </a:solidFill>
              </a:rPr>
              <a:t>Known Limitations &amp; Future Scope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611880"/>
            <a:ext cx="5303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Trained on SMS data — email-specific dataset would improve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Image-only spam (poster emails) cannot be read (no OCR)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Sender domain reputation not deeply analyzed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Future: Active Learning — user feedback retrains model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Future: Gmail API integration for real-time scanning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 Future: Browser extension for in-browser detection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658368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AIT  |  Python for Data Science (BE05000231)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0" y="658368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35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Thank You!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2834640"/>
            <a:ext cx="5788152" cy="45720"/>
          </a:xfrm>
          <a:prstGeom prst="rect">
            <a:avLst/>
          </a:prstGeom>
          <a:solidFill>
            <a:srgbClr val="235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0175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DBE9FF"/>
                </a:solidFill>
              </a:rPr>
              <a:t>Spam Email Detection System
Python for Data Science (BE05000231)  |  Sem 5, BE, B Div, B2 Batch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977639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Yashrajsinh Rajput  ·  Vishwajeet  ·  Shreyas Tavre  ·  Meet Shah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6634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</a:rPr>
              <a:t>Submitted To: Prof. Khusharth Oza    |    HOD CE: Dr. Harsha Padheriya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2578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DBE9FF"/>
                </a:solidFill>
              </a:rPr>
              <a:t>Ahmedabad Institute of Technology  |  github.com/RYashraj/spammaildetection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58368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AIT  |  Python for Data Science (BE05000231)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0" y="658368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